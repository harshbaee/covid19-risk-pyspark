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sh Prajapati" initials="HP" lastIdx="1" clrIdx="0">
    <p:extLst>
      <p:ext uri="{19B8F6BF-5375-455C-9EA6-DF929625EA0E}">
        <p15:presenceInfo xmlns:p15="http://schemas.microsoft.com/office/powerpoint/2012/main" userId="S-1-5-21-94117817-3628948195-2977134917-5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07T23:37:01.404" idx="1">
    <p:pos x="5126" y="752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147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6343650" cy="51435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4" name="Text 1"/>
          <p:cNvSpPr/>
          <p:nvPr/>
        </p:nvSpPr>
        <p:spPr>
          <a:xfrm>
            <a:off x="485775" y="1385971"/>
            <a:ext cx="54864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COVID-19 Risk Classification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485775" y="2752967"/>
            <a:ext cx="54864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74D9"/>
                </a:solidFill>
              </a:rPr>
              <a:t>A Data-Driven Approach with PySpark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485775" y="3408406"/>
            <a:ext cx="3571875" cy="769739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Leveraging Big Data Analytics to Predict High-Risk Public Health Scenarios through Distributed Computing.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0" y="57150"/>
            <a:ext cx="3657600" cy="5143500"/>
          </a:xfrm>
          <a:prstGeom prst="rect">
            <a:avLst/>
          </a:prstGeom>
          <a:solidFill>
            <a:srgbClr val="F4F4F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7150"/>
            <a:ext cx="3657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Project Objective: Proactive Risk Mitigation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571625"/>
            <a:ext cx="3929063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74D9"/>
                </a:solidFill>
              </a:rPr>
              <a:t>Shifting from descriptive reporting to predictive classification is essential for pandemic management.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628650" y="2954610"/>
            <a:ext cx="37290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Identify high-risk "province-day" scenarios using multi-source data integration.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8650" y="3554685"/>
            <a:ext cx="37290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Build a scalable pipeline capable of processing millions of records in real-time.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8650" y="4154760"/>
            <a:ext cx="37290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Provide actionable insights for targeted public health interventions and resource allocation.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1571625"/>
            <a:ext cx="385762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Data Ecosystem: Integrating Diverse Streams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428750"/>
            <a:ext cx="400050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74D9"/>
                </a:solidFill>
              </a:rPr>
              <a:t>Risk is multi-dimensional; single-source data is insufficient for accurate prediction.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428625" y="2039541"/>
            <a:ext cx="1914525" cy="114009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2039541"/>
            <a:ext cx="1914525" cy="28575"/>
          </a:xfrm>
          <a:prstGeom prst="rect">
            <a:avLst/>
          </a:prstGeom>
          <a:solidFill>
            <a:srgbClr val="0074D9"/>
          </a:solidFill>
          <a:ln/>
        </p:spPr>
      </p:sp>
      <p:sp>
        <p:nvSpPr>
          <p:cNvPr id="8" name="Text 5"/>
          <p:cNvSpPr/>
          <p:nvPr/>
        </p:nvSpPr>
        <p:spPr>
          <a:xfrm>
            <a:off x="600075" y="2210991"/>
            <a:ext cx="1571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1F3F"/>
                </a:solidFill>
              </a:rPr>
              <a:t>Clinical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600075" y="2511028"/>
            <a:ext cx="157162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Confirmed cases, deceased, and released counts from TimeProvince and TimeGender datasets.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2514600" y="2039541"/>
            <a:ext cx="1914525" cy="114009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1" name="Shape 8"/>
          <p:cNvSpPr/>
          <p:nvPr/>
        </p:nvSpPr>
        <p:spPr>
          <a:xfrm>
            <a:off x="2514600" y="2039541"/>
            <a:ext cx="1914525" cy="28575"/>
          </a:xfrm>
          <a:prstGeom prst="rect">
            <a:avLst/>
          </a:prstGeom>
          <a:solidFill>
            <a:srgbClr val="0074D9"/>
          </a:solidFill>
          <a:ln/>
        </p:spPr>
      </p:sp>
      <p:sp>
        <p:nvSpPr>
          <p:cNvPr id="12" name="Text 9"/>
          <p:cNvSpPr/>
          <p:nvPr/>
        </p:nvSpPr>
        <p:spPr>
          <a:xfrm>
            <a:off x="2686050" y="2210991"/>
            <a:ext cx="1571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1F3F"/>
                </a:solidFill>
              </a:rPr>
              <a:t>Demographic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2686050" y="2511028"/>
            <a:ext cx="157162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Gender ratios, age distribution, and nursing home density from Region and TimeGender.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428625" y="3322513"/>
            <a:ext cx="1914525" cy="114009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3322513"/>
            <a:ext cx="1914525" cy="28575"/>
          </a:xfrm>
          <a:prstGeom prst="rect">
            <a:avLst/>
          </a:prstGeom>
          <a:solidFill>
            <a:srgbClr val="0074D9"/>
          </a:solidFill>
          <a:ln/>
        </p:spPr>
      </p:sp>
      <p:sp>
        <p:nvSpPr>
          <p:cNvPr id="16" name="Text 13"/>
          <p:cNvSpPr/>
          <p:nvPr/>
        </p:nvSpPr>
        <p:spPr>
          <a:xfrm>
            <a:off x="600075" y="3493963"/>
            <a:ext cx="1571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1F3F"/>
                </a:solidFill>
              </a:rPr>
              <a:t>Behavioral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600075" y="3794001"/>
            <a:ext cx="157162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Digital search trends for respiratory symptoms (Coronavirus, Flu, Cold) from SearchTrend.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2514600" y="3322513"/>
            <a:ext cx="1914525" cy="114009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9" name="Shape 16"/>
          <p:cNvSpPr/>
          <p:nvPr/>
        </p:nvSpPr>
        <p:spPr>
          <a:xfrm>
            <a:off x="2514600" y="3322513"/>
            <a:ext cx="1914525" cy="28575"/>
          </a:xfrm>
          <a:prstGeom prst="rect">
            <a:avLst/>
          </a:prstGeom>
          <a:solidFill>
            <a:srgbClr val="0074D9"/>
          </a:solidFill>
          <a:ln/>
        </p:spPr>
      </p:sp>
      <p:sp>
        <p:nvSpPr>
          <p:cNvPr id="20" name="Text 17"/>
          <p:cNvSpPr/>
          <p:nvPr/>
        </p:nvSpPr>
        <p:spPr>
          <a:xfrm>
            <a:off x="2686050" y="3493963"/>
            <a:ext cx="1571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1F3F"/>
                </a:solidFill>
              </a:rPr>
              <a:t>Geospatial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2686050" y="3794001"/>
            <a:ext cx="157162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Latitude and Longitude coordinates for regional mapping and spatial analysis.</a:t>
            </a:r>
            <a:endParaRPr lang="en-US" sz="834" dirty="0"/>
          </a:p>
        </p:txBody>
      </p:sp>
      <p:pic>
        <p:nvPicPr>
          <p:cNvPr id="2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699" y="1143000"/>
            <a:ext cx="2194886" cy="367982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8CCEC73-D3B3-4BF6-B415-139DA5B513CD}"/>
              </a:ext>
            </a:extLst>
          </p:cNvPr>
          <p:cNvSpPr txBox="1"/>
          <p:nvPr/>
        </p:nvSpPr>
        <p:spPr>
          <a:xfrm>
            <a:off x="6470650" y="4857750"/>
            <a:ext cx="1371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System Architecture</a:t>
            </a:r>
            <a:endParaRPr lang="fr-FR" sz="1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Regional Disparity: Daegu as the Epicenter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28625" y="1371600"/>
            <a:ext cx="4869163" cy="2371725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457325"/>
            <a:ext cx="4868466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69238" y="1400175"/>
            <a:ext cx="32461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Extreme Concentration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5469238" y="1691283"/>
            <a:ext cx="324610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Regional patterns show an extreme concentration of risk. </a:t>
            </a:r>
            <a:r>
              <a:rPr lang="en-US" sz="987" b="1" dirty="0">
                <a:solidFill>
                  <a:srgbClr val="FF4136"/>
                </a:solidFill>
              </a:rPr>
              <a:t>Daegu</a:t>
            </a:r>
            <a:r>
              <a:rPr lang="en-US" sz="1050" dirty="0">
                <a:solidFill>
                  <a:srgbClr val="555555"/>
                </a:solidFill>
              </a:rPr>
              <a:t> recorded an average of 4,954 confirmed cases, nearly 10x the volume of Seoul (~502 cases).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69238" y="2519958"/>
            <a:ext cx="32461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Secondary Hotspots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469238" y="2811066"/>
            <a:ext cx="324610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Gyeongsangbuk-do followed as the second most impacted region with ~988 average cases, while other provinces remained significantly lower.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69238" y="3639741"/>
            <a:ext cx="32461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Strategic Implication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5469238" y="3930848"/>
            <a:ext cx="324610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Resource allocation must be dynamically prioritized based on these regional "hotspots" rather than uniform distribution across the country.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18009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286750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Digital Footprints: Search Trends as Leading Indicators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789509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Pearson Correlation Matrix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432197" y="2169914"/>
            <a:ext cx="1027416" cy="410766"/>
          </a:xfrm>
          <a:prstGeom prst="rect">
            <a:avLst/>
          </a:prstGeom>
          <a:solidFill>
            <a:srgbClr val="F4F4F4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2197" y="2169914"/>
            <a:ext cx="1027416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1F3F"/>
                </a:solidFill>
              </a:rPr>
              <a:t>Feature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1459613" y="2169914"/>
            <a:ext cx="1027416" cy="410766"/>
          </a:xfrm>
          <a:prstGeom prst="rect">
            <a:avLst/>
          </a:prstGeom>
          <a:solidFill>
            <a:srgbClr val="F4F4F4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59613" y="2169914"/>
            <a:ext cx="1027416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1F3F"/>
                </a:solidFill>
              </a:rPr>
              <a:t>Confirmed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2485076" y="2169914"/>
            <a:ext cx="913535" cy="410766"/>
          </a:xfrm>
          <a:prstGeom prst="rect">
            <a:avLst/>
          </a:prstGeom>
          <a:solidFill>
            <a:srgbClr val="F4F4F4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85076" y="2169914"/>
            <a:ext cx="913535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1F3F"/>
                </a:solidFill>
              </a:rPr>
              <a:t>Released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3396658" y="2169914"/>
            <a:ext cx="957458" cy="410766"/>
          </a:xfrm>
          <a:prstGeom prst="rect">
            <a:avLst/>
          </a:prstGeom>
          <a:solidFill>
            <a:srgbClr val="F4F4F4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96658" y="2169914"/>
            <a:ext cx="957458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1F3F"/>
                </a:solidFill>
              </a:rPr>
              <a:t>Deceased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610567" y="2691408"/>
            <a:ext cx="6770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Confirmed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1465976" y="2573536"/>
            <a:ext cx="1025686" cy="410766"/>
          </a:xfrm>
          <a:prstGeom prst="rect">
            <a:avLst/>
          </a:prstGeom>
          <a:solidFill>
            <a:srgbClr val="0074D9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65976" y="2573536"/>
            <a:ext cx="1025686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1.00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2491662" y="2573536"/>
            <a:ext cx="910158" cy="410766"/>
          </a:xfrm>
          <a:prstGeom prst="rect">
            <a:avLst/>
          </a:prstGeom>
          <a:solidFill>
            <a:srgbClr val="0074D9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91662" y="2573536"/>
            <a:ext cx="910158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0.93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3401820" y="2573536"/>
            <a:ext cx="952295" cy="410766"/>
          </a:xfrm>
          <a:prstGeom prst="rect">
            <a:avLst/>
          </a:prstGeom>
          <a:solidFill>
            <a:srgbClr val="0074D9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01820" y="2573536"/>
            <a:ext cx="952295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0.95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661550" y="3102173"/>
            <a:ext cx="5750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Released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1465976" y="2984302"/>
            <a:ext cx="1025686" cy="410766"/>
          </a:xfrm>
          <a:prstGeom prst="rect">
            <a:avLst/>
          </a:prstGeom>
          <a:solidFill>
            <a:srgbClr val="0074D9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65976" y="2984302"/>
            <a:ext cx="1025686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0.93</a:t>
            </a:r>
            <a:endParaRPr lang="en-US" sz="885" dirty="0"/>
          </a:p>
        </p:txBody>
      </p:sp>
      <p:sp>
        <p:nvSpPr>
          <p:cNvPr id="24" name="Shape 21"/>
          <p:cNvSpPr/>
          <p:nvPr/>
        </p:nvSpPr>
        <p:spPr>
          <a:xfrm>
            <a:off x="2491662" y="2984302"/>
            <a:ext cx="910158" cy="410766"/>
          </a:xfrm>
          <a:prstGeom prst="rect">
            <a:avLst/>
          </a:prstGeom>
          <a:solidFill>
            <a:srgbClr val="0074D9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91662" y="2984302"/>
            <a:ext cx="910158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1.00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3401820" y="2984302"/>
            <a:ext cx="952295" cy="410766"/>
          </a:xfrm>
          <a:prstGeom prst="rect">
            <a:avLst/>
          </a:prstGeom>
          <a:solidFill>
            <a:srgbClr val="0074D9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820" y="2984302"/>
            <a:ext cx="952295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0.99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642965" y="3512939"/>
            <a:ext cx="6122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Deceased</a:t>
            </a:r>
            <a:endParaRPr lang="en-US" sz="885" dirty="0"/>
          </a:p>
        </p:txBody>
      </p:sp>
      <p:sp>
        <p:nvSpPr>
          <p:cNvPr id="29" name="Shape 26"/>
          <p:cNvSpPr/>
          <p:nvPr/>
        </p:nvSpPr>
        <p:spPr>
          <a:xfrm>
            <a:off x="1465976" y="3395067"/>
            <a:ext cx="1025686" cy="410766"/>
          </a:xfrm>
          <a:prstGeom prst="rect">
            <a:avLst/>
          </a:prstGeom>
          <a:solidFill>
            <a:srgbClr val="0074D9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465976" y="3395067"/>
            <a:ext cx="1025686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0.95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2491662" y="3395067"/>
            <a:ext cx="910158" cy="410766"/>
          </a:xfrm>
          <a:prstGeom prst="rect">
            <a:avLst/>
          </a:prstGeom>
          <a:solidFill>
            <a:srgbClr val="0074D9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491662" y="3395067"/>
            <a:ext cx="910158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0.99</a:t>
            </a:r>
            <a:endParaRPr lang="en-US" sz="885" dirty="0"/>
          </a:p>
        </p:txBody>
      </p:sp>
      <p:sp>
        <p:nvSpPr>
          <p:cNvPr id="33" name="Shape 30"/>
          <p:cNvSpPr/>
          <p:nvPr/>
        </p:nvSpPr>
        <p:spPr>
          <a:xfrm>
            <a:off x="3401820" y="3395067"/>
            <a:ext cx="952295" cy="410766"/>
          </a:xfrm>
          <a:prstGeom prst="rect">
            <a:avLst/>
          </a:prstGeom>
          <a:solidFill>
            <a:srgbClr val="0074D9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01820" y="3395067"/>
            <a:ext cx="952295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1.00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428625" y="4038005"/>
            <a:ext cx="392906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Public search behavior for respiratory symptoms (Coronavirus, Flu, Cold) is a high-fidelity predictor of case surges, providing a 7-14 day lead time for capacity planning.</a:t>
            </a:r>
            <a:endParaRPr lang="en-US" sz="105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123" y="2354033"/>
            <a:ext cx="3817441" cy="1728397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531300" y="4647009"/>
            <a:ext cx="2439060" cy="269677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777777"/>
                </a:solidFill>
              </a:rPr>
              <a:t>Exploratory Data Analysis: Daily cases over time.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6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18009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286750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The Demographic Factor: Gender and Age as Risk Predictors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503759"/>
            <a:ext cx="44265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Top Feature Importances (Random Forest)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428625" y="1823442"/>
            <a:ext cx="4426502" cy="2357438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894880"/>
            <a:ext cx="4425553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6577" y="1503759"/>
            <a:ext cx="368879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Gender as a Primary Driver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026577" y="1823442"/>
            <a:ext cx="368879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Population demographics are highly predictive. </a:t>
            </a:r>
            <a:r>
              <a:rPr lang="en-US" sz="987" b="1" dirty="0">
                <a:solidFill>
                  <a:srgbClr val="0074D9"/>
                </a:solidFill>
              </a:rPr>
              <a:t>Gender Ratios</a:t>
            </a:r>
            <a:r>
              <a:rPr lang="en-US" sz="1050" dirty="0">
                <a:solidFill>
                  <a:srgbClr val="555555"/>
                </a:solidFill>
              </a:rPr>
              <a:t> (Male/Female) emerged as the top two most important features in the Random Forest analysis, with importance scores of 0.24 and 0.19 respectively.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026577" y="2937867"/>
            <a:ext cx="368879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Vulnerability in Elderly Areas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5026577" y="3257550"/>
            <a:ext cx="368879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The </a:t>
            </a:r>
            <a:r>
              <a:rPr lang="en-US" sz="987" b="1" dirty="0">
                <a:solidFill>
                  <a:srgbClr val="0074D9"/>
                </a:solidFill>
              </a:rPr>
              <a:t>Elderly Population Ratio</a:t>
            </a:r>
            <a:r>
              <a:rPr lang="en-US" sz="1050" dirty="0">
                <a:solidFill>
                  <a:srgbClr val="555555"/>
                </a:solidFill>
              </a:rPr>
              <a:t> and </a:t>
            </a:r>
            <a:r>
              <a:rPr lang="en-US" sz="987" b="1" dirty="0">
                <a:solidFill>
                  <a:srgbClr val="0074D9"/>
                </a:solidFill>
              </a:rPr>
              <a:t>Nursing Home Counts</a:t>
            </a:r>
            <a:r>
              <a:rPr lang="en-US" sz="1050" dirty="0">
                <a:solidFill>
                  <a:srgbClr val="555555"/>
                </a:solidFill>
              </a:rPr>
              <a:t> showed significant correlation with high-risk classification, highlighting specific demographic vulnerabilities.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026577" y="4171950"/>
            <a:ext cx="368879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Predictive Insights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5026577" y="4491633"/>
            <a:ext cx="368879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Demographics are not just descriptive; they are highly predictive of risk levels, allowing for targeted public health interventions.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Technical Pipeline: Scalable Preprocessing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571625"/>
            <a:ext cx="8286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74D9"/>
                </a:solidFill>
              </a:rPr>
              <a:t>Distributed computing is required to handle the complexity of feature engineering and real-time data integration at scale.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428625" y="2394552"/>
            <a:ext cx="2571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136"/>
                </a:solidFill>
              </a:rPr>
              <a:t>Stage 01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28625" y="2607078"/>
            <a:ext cx="2571750" cy="31968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Label Creation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28625" y="3055348"/>
            <a:ext cx="25671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Defining risk thresholds through statistical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3261066"/>
            <a:ext cx="16865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analysis of confirmed cases.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3538221"/>
            <a:ext cx="2571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65th Percentile Threshold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3801089"/>
            <a:ext cx="2571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Binary Classification (High/Low)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28625" y="4063957"/>
            <a:ext cx="2571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Temporal Alignment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3286125" y="2394552"/>
            <a:ext cx="2571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136"/>
                </a:solidFill>
              </a:rPr>
              <a:t>Stage 02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286125" y="2607078"/>
            <a:ext cx="2571750" cy="31968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Feature Engineering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3286125" y="3055348"/>
            <a:ext cx="22079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Synthesizing multi-source data while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286125" y="3261066"/>
            <a:ext cx="18849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maintaining temporal integrity.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286125" y="3538221"/>
            <a:ext cx="2571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Multi-Dataset Joins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286125" y="3801089"/>
            <a:ext cx="2571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Leakage Prevention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286125" y="4063957"/>
            <a:ext cx="2571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Missing Value Imputation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6143625" y="2394552"/>
            <a:ext cx="2571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136"/>
                </a:solidFill>
              </a:rPr>
              <a:t>Stage 03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6143625" y="2607078"/>
            <a:ext cx="2571750" cy="31968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ML Pipeline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6143625" y="3055348"/>
            <a:ext cx="23058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Standardized transformation steps for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6143625" y="3261066"/>
            <a:ext cx="1620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distributed model training.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6143625" y="3538221"/>
            <a:ext cx="2571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StringIndexer &amp; OHE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6143625" y="3801089"/>
            <a:ext cx="2571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VectorAssembler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6143625" y="4063957"/>
            <a:ext cx="2571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StandardScaler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Model Selection: Why Gradient Boosted Trees?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500188"/>
            <a:ext cx="4403145" cy="104008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0074D9"/>
                </a:solidFill>
              </a:rPr>
              <a:t>Non-linear models are superior at capturing the complex interactions between demographics and behavioral search patterns.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428625" y="2683148"/>
            <a:ext cx="44031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1F3F"/>
                </a:solidFill>
              </a:rPr>
              <a:t>Logistic Regression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428625" y="2940323"/>
            <a:ext cx="440314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Struggled with high-dimensional non-linear relationships between regional features and infection surges.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3411810"/>
            <a:ext cx="44031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1F3F"/>
                </a:solidFill>
              </a:rPr>
              <a:t>Decision Trees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428625" y="3668985"/>
            <a:ext cx="440314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Prone to overfitting on regional noise and lacked the stability required for reliable public health forecasting.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4140473"/>
            <a:ext cx="44031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136"/>
                </a:solidFill>
              </a:rPr>
              <a:t>Gradient Boosted Trees (GBT)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428625" y="4397648"/>
            <a:ext cx="440314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Iteratively corrects errors from previous trees, providing the most robust and accurate risk profile across diverse provinces.</a:t>
            </a:r>
            <a:endParaRPr lang="en-US" sz="942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955" y="2129952"/>
            <a:ext cx="3481267" cy="20843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24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Predictive Power: Achieving 99.19% Accuracy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714500"/>
            <a:ext cx="392906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FF4136"/>
                </a:solidFill>
              </a:rPr>
              <a:t>99.19%</a:t>
            </a:r>
            <a:endParaRPr lang="en-US" sz="4145" dirty="0"/>
          </a:p>
        </p:txBody>
      </p:sp>
      <p:sp>
        <p:nvSpPr>
          <p:cNvPr id="6" name="Text 3"/>
          <p:cNvSpPr/>
          <p:nvPr/>
        </p:nvSpPr>
        <p:spPr>
          <a:xfrm>
            <a:off x="428625" y="2357438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1F3F"/>
                </a:solidFill>
              </a:rPr>
              <a:t>Model Accuracy &amp; F1-Score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2877145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Optimized Performance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28625" y="3168253"/>
            <a:ext cx="39290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Hyperparameter tuning on Gradient Boosted Trees (GBT) with Cross-Validation yielded near-perfect classification performance.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4039791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Reliable Decision Support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28625" y="4330898"/>
            <a:ext cx="39290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The high F1-score ensures that both "False Alarms" and "Missed Risks" are minimized, making the model reliable for critical policy decisions.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1630254"/>
            <a:ext cx="3857625" cy="3026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10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Feature Importance: What Drives the Model?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571625"/>
            <a:ext cx="43641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Relative Predictive Weight (GBT Model)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428625" y="1948458"/>
            <a:ext cx="4364162" cy="291465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005608"/>
            <a:ext cx="4363045" cy="2857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8537" y="1571625"/>
            <a:ext cx="36368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Primary Demographic Drivers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078537" y="1891308"/>
            <a:ext cx="36368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The model relies heavily on </a:t>
            </a:r>
            <a:r>
              <a:rPr lang="en-US" sz="987" b="1" dirty="0">
                <a:solidFill>
                  <a:srgbClr val="0074D9"/>
                </a:solidFill>
              </a:rPr>
              <a:t>Gender Ratios</a:t>
            </a:r>
            <a:r>
              <a:rPr lang="en-US" sz="1050" dirty="0">
                <a:solidFill>
                  <a:srgbClr val="555555"/>
                </a:solidFill>
              </a:rPr>
              <a:t> and the </a:t>
            </a:r>
            <a:r>
              <a:rPr lang="en-US" sz="987" b="1" dirty="0">
                <a:solidFill>
                  <a:srgbClr val="0074D9"/>
                </a:solidFill>
              </a:rPr>
              <a:t>Elderly Population Ratio</a:t>
            </a:r>
            <a:r>
              <a:rPr lang="en-US" sz="1050" dirty="0">
                <a:solidFill>
                  <a:srgbClr val="555555"/>
                </a:solidFill>
              </a:rPr>
              <a:t>, which represent the highest predictive weights for identifying high-risk regions.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078537" y="2977158"/>
            <a:ext cx="36368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Behavioral Signals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5078537" y="3296841"/>
            <a:ext cx="36368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74D9"/>
                </a:solidFill>
              </a:rPr>
              <a:t>Search Trends</a:t>
            </a:r>
            <a:r>
              <a:rPr lang="en-US" sz="1050" dirty="0">
                <a:solidFill>
                  <a:srgbClr val="555555"/>
                </a:solidFill>
              </a:rPr>
              <a:t> for "Coronavirus" and "Flu" provide critical real-time behavioral signals that anticipate clinical case surges.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5078537" y="4154091"/>
            <a:ext cx="36368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F3F"/>
                </a:solidFill>
              </a:rPr>
              <a:t>Localized Risk Multipliers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5078537" y="4473773"/>
            <a:ext cx="36368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The </a:t>
            </a:r>
            <a:r>
              <a:rPr lang="en-US" sz="987" b="1" dirty="0">
                <a:solidFill>
                  <a:srgbClr val="0074D9"/>
                </a:solidFill>
              </a:rPr>
              <a:t>Nursing Home Count</a:t>
            </a:r>
            <a:r>
              <a:rPr lang="en-US" sz="1050" dirty="0">
                <a:solidFill>
                  <a:srgbClr val="555555"/>
                </a:solidFill>
              </a:rPr>
              <a:t> acts as a localized risk multiplier, significantly increasing the probability of a high-risk classification in specific districts.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Strategic Value: Real-time Risk Assessment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571625"/>
            <a:ext cx="8286750" cy="92581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1F3F"/>
                </a:solidFill>
              </a:rPr>
              <a:t>Transitioning from reactive reporting to proactive risk classification enables public health officials to anticipate surges and deploy resources with surgical precision.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2926063"/>
            <a:ext cx="2571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74D9"/>
                </a:solidFill>
              </a:rPr>
              <a:t>Data Integration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3274321"/>
            <a:ext cx="25717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Combining demographic profiles, digital search behavior, and clinical data creates a robust, multi-dimensional risk profile that traditional surveillance methods miss.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3286125" y="2926063"/>
            <a:ext cx="2571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74D9"/>
                </a:solidFill>
              </a:rPr>
              <a:t>Enterprise Scalability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3286125" y="3274321"/>
            <a:ext cx="2571750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Built on the PySpark distributed computing framework, the pipeline is engineered to process massive, real-time data streams for national-level monitoring.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143625" y="2926063"/>
            <a:ext cx="2571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74D9"/>
                </a:solidFill>
              </a:rPr>
              <a:t>Actionable Policy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143625" y="3274321"/>
            <a:ext cx="25717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Provides a reliable early-warning tool for evidence-based policy decisions, including targeted lockdowns and hospital capacity optimization.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0" y="4702373"/>
            <a:ext cx="9144000" cy="441127"/>
          </a:xfrm>
          <a:prstGeom prst="rect">
            <a:avLst/>
          </a:prstGeom>
          <a:noFill/>
          <a:ln/>
        </p:spPr>
        <p:txBody>
          <a:bodyPr wrap="square" lIns="510286" tIns="340233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AAAAAA"/>
                </a:solidFill>
              </a:rPr>
              <a:t>Conclusion: COVID-19 Risk Classification Framework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847</Words>
  <Application>Microsoft Office PowerPoint</Application>
  <PresentationFormat>On-screen Show (16:9)</PresentationFormat>
  <Paragraphs>120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 Prajapati</cp:lastModifiedBy>
  <cp:revision>2</cp:revision>
  <dcterms:created xsi:type="dcterms:W3CDTF">2026-01-07T22:32:32Z</dcterms:created>
  <dcterms:modified xsi:type="dcterms:W3CDTF">2026-01-07T22:39:23Z</dcterms:modified>
</cp:coreProperties>
</file>